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6F1"/>
                </a:solidFill>
                <a:latin typeface="微软雅黑"/>
              </a:defRPr>
            </a:pPr>
            <a:r>
              <a:t>产品路演 · 6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TeleToken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5B4FC"/>
                </a:solidFill>
                <a:latin typeface="微软雅黑"/>
              </a:defRPr>
            </a:pPr>
            <a:r>
              <a:t>企业级 AI 模型聚合网关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93192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微软雅黑"/>
              </a:defRPr>
            </a:pPr>
            <a:r>
              <a:t>一个接口，调用所有国产大模型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统一接入 · 智能路由 · 自动计费 · 开箱即用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大模型爆发，但企业的"三多"困境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🔌 厂商多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DeepSeek、智谱、通义、豆包、MiniMax...</a:t>
            </a:r>
            <a:br/>
            <a:r>
              <a:t>每家接口格式不统一</a:t>
            </a:r>
            <a:br/>
            <a:r>
              <a:t>接入一家需要 3-5 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🔑 账号多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每个厂商单独注册、充值</a:t>
            </a:r>
            <a:br/>
            <a:r>
              <a:t>管理 5+ 套 API Key</a:t>
            </a:r>
            <a:br/>
            <a:r>
              <a:t>一个 Key 泄露 = 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29184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📊 账单多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5 个厂商 = 5 套计费系统</a:t>
            </a:r>
            <a:br/>
            <a:r>
              <a:t>月底对账全靠 Excel</a:t>
            </a:r>
            <a:br/>
            <a:r>
              <a:t>一次对账 = 4 小时+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微软雅黑"/>
              </a:defRPr>
            </a:pPr>
            <a:r>
              <a:t>💡 我们的思考：能不能做一层"统一中间层"，让企业只管一个地方？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业务定位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TeleToken Router = AI 模型的"聚合支付"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就像支付宝聚合了微信/银联/银行卡，我们聚合了所有大模型厂商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286000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微软雅黑"/>
              </a:defRPr>
            </a:pPr>
            <a:r>
              <a:t>👤 企业/开发者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77440"/>
            <a:ext cx="3200400" cy="12801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⚡ TeleToken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微软雅黑"/>
              </a:defRPr>
            </a:pPr>
            <a:r>
              <a:t>统一 API · 智能路由 · 自动计费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103120"/>
            <a:ext cx="182880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微软雅黑"/>
              </a:defRPr>
            </a:pPr>
            <a:r>
              <a:t>DeepSeek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06039"/>
            <a:ext cx="182880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624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微软雅黑"/>
              </a:defRPr>
            </a:pPr>
            <a:r>
              <a:t>智谱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108960"/>
            <a:ext cx="182880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微软雅黑"/>
              </a:defRPr>
            </a:pPr>
            <a:r>
              <a:t>通义千问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611880"/>
            <a:ext cx="182880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630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微软雅黑"/>
              </a:defRPr>
            </a:pPr>
            <a:r>
              <a:t>火山引擎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114800"/>
            <a:ext cx="182880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1330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微软雅黑"/>
              </a:defRPr>
            </a:pPr>
            <a:r>
              <a:t>MiniMax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🔑 一个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告别多平台多账号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20624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📋 一张账单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所有花费一目了然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206240"/>
            <a:ext cx="32918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🔄 自动切换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厂商挂了秒级降级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目标用户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三类核心客户，三个真实痛点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070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用户类型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05740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典型场景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核心诉求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0574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付费意愿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0704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AI 创业团队</a:t>
            </a:r>
            <a:br/>
            <a:r>
              <a:t>(3-10 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34640"/>
            <a:ext cx="3291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产品需要调用大模型，</a:t>
            </a:r>
            <a:br/>
            <a:r>
              <a:t>但不想被一家厂商绑定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834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快速接入、灵活切换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34640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¥500-2000/月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0704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5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企业 IT 部门</a:t>
            </a:r>
            <a:br/>
            <a:r>
              <a:t>(50-500 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23359"/>
            <a:ext cx="3291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多部门各自采购模型，</a:t>
            </a:r>
            <a:br/>
            <a:r>
              <a:t>费用失控、无法审计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02335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统一管控、透明账单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023359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¥5000-20000/月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0704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7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AI 培训机构</a:t>
            </a:r>
            <a:br/>
            <a:r>
              <a:t>(教育场景)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212079"/>
            <a:ext cx="3291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给学员提供即开即用的</a:t>
            </a:r>
            <a:br/>
            <a:r>
              <a:t>大模型实操环境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521207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零配置、开箱即用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212079"/>
            <a:ext cx="23774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¥2000-8000/月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最终成果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用数据说话：降本 · 提效 · 增收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/>
              </a:defRPr>
            </a:pPr>
            <a:r>
              <a:t>💰 降本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0B981"/>
                </a:solidFill>
                <a:latin typeface="微软雅黑"/>
              </a:defRPr>
            </a:pPr>
            <a:r>
              <a:t>93%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接入时间缩短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15 天 → 1 天完成接入</a:t>
            </a:r>
            <a:br/>
            <a:r>
              <a:t>月度对账：4 小时 → 10 分钟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⚡ 提效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  <a:latin typeface="微软雅黑"/>
              </a:defRPr>
            </a:pPr>
            <a:r>
              <a:t>0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模型自动切换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故障恢复：人工 → 秒级自动</a:t>
            </a:r>
            <a:br/>
            <a:r>
              <a:t>运维面板：5 个后台 → 1 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📈 增收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微软雅黑"/>
              </a:defRPr>
            </a:pPr>
            <a:r>
              <a:t>¥0.5-2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每千次调用毛利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23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统一定价 + 厂商差价</a:t>
            </a:r>
            <a:br/>
            <a:r>
              <a:t>预充值沉淀 + 规模效应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产品展示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四大核心模块，开箱即用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调用量、花费、厂商状态</a:t>
            </a:r>
            <a:br/>
            <a:r>
              <a:t>全局一览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模型市场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20+ 模型可选</a:t>
            </a:r>
            <a:br/>
            <a:r>
              <a:t>一键启用/禁用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计费中心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余额管理、用量明细</a:t>
            </a:r>
            <a:br/>
            <a:r>
              <a:t>对账报表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虚拟办公室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474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3D Agent 可视化</a:t>
            </a:r>
            <a:br/>
            <a:r>
              <a:t>任务实时监控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029200"/>
            <a:ext cx="8503920" cy="8229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微软雅黑"/>
              </a:defRPr>
            </a:pPr>
            <a:r>
              <a:t>🖱️ 双击 start-all.bat → 浏览器打开 localhost:3000 → 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无需安装、无需配置、无需技术背景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技术差异化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智能路由：不是简单转发，而是"聪明地转发"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🎯 优先级路由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性价比最高的厂商优先调用</a:t>
            </a:r>
            <a:br/>
            <a:r>
              <a:t>DeepSeek → 火山 → 智谱 → 免费兜底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3832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成本最优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🛡️ 熔断保护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连续失败 5 次自动隔离</a:t>
            </a:r>
            <a:br/>
            <a:r>
              <a:t>1 分钟后自动恢复探测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383280"/>
            <a:ext cx="146304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高可用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🌊 流式容错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先探测厂商连接再推送数据</a:t>
            </a:r>
            <a:br/>
            <a:r>
              <a:t>失败可无损切换下一家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66928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体验优先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🔄 智能降级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付费全挂 → 免费模型兜底</a:t>
            </a:r>
            <a:br/>
            <a:r>
              <a:t>免费也挂 → Mock 保底响应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669280"/>
            <a:ext cx="1463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669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永不中断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技术差异化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计费对账：每分钱都算得清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🔒 事务级计费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扣费 + 日志写入 = 原子操作</a:t>
            </a:r>
            <a:br/>
            <a:r>
              <a:t>要么全成功，要么全回滚</a:t>
            </a:r>
            <a:br/>
            <a:r>
              <a:t>不会出现"扣了钱没记录"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📐 双维度对账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系统 Token 计数 vs 厂商返回</a:t>
            </a:r>
            <a:br/>
            <a:r>
              <a:t>差异 &gt; 10% 自动标红</a:t>
            </a:r>
            <a:br/>
            <a:r>
              <a:t>一眼发现计费异常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💸 退款支持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支持部分退款</a:t>
            </a:r>
            <a:br/>
            <a:r>
              <a:t>余额自动恢复</a:t>
            </a:r>
            <a:br/>
            <a:r>
              <a:t>完整的售后闭环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0704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6534"/>
                </a:solidFill>
                <a:latin typeface="微软雅黑"/>
              </a:defRPr>
            </a:pPr>
            <a:r>
              <a:t>✅ 已验证：15 项自动化测试全部通过，包括非流式、流式、事务计费场景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竞争分析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竞品对比：我们的差异化在哪？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070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0574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OpenRouter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20574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微软雅黑"/>
              </a:defRPr>
            </a:pPr>
            <a:r>
              <a:t>One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05740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TeleToken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07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国产模型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889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⚠️ 覆盖弱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7889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✅ 中等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✅ 7 家全覆盖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6070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部署难度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8327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需服务器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338327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需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79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✅ 双击 bat 启动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607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可视化面板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97763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基础仪表盘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397763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❌ 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977639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✅ 3D 虚拟办公室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106070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流式容错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720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5720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57200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✅ 先探测再推送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6070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663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计费对账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6635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59" y="516635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166359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✅ 事务级 + 双维度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715000"/>
            <a:ext cx="106070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目标市场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7607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🌍 全球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57607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🇨🇳 国内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7607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🇨🇳 国内 · 开箱即用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发展规划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三步走路线图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941832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21031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V1.0 已完成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✅ 多厂商路由 + 熔断</a:t>
            </a:r>
            <a:br/>
            <a:r>
              <a:t>✅ 事务级计费</a:t>
            </a:r>
            <a:br/>
            <a:r>
              <a:t>✅ 流式代理</a:t>
            </a:r>
            <a:br/>
            <a:r>
              <a:t>✅ 管理面板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21031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V1.5 规划中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商业化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→ 支付宝/微信充值</a:t>
            </a:r>
            <a:br/>
            <a:r>
              <a:t>→ 多租户隔离</a:t>
            </a:r>
            <a:br/>
            <a:r>
              <a:t>→ API Key 加密存储</a:t>
            </a:r>
            <a:br/>
            <a:r>
              <a:t>→ 监控告警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0" y="21031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V2.0 远期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企业级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→ 知识库 RAG</a:t>
            </a:r>
            <a:br/>
            <a:r>
              <a:t>→ MCP 工具调用</a:t>
            </a:r>
            <a:br/>
            <a:r>
              <a:t>→ 企业 SSO 接入</a:t>
            </a:r>
            <a:br/>
            <a:r>
              <a:t>→ 私有化部署方案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轻量级架构，快速可运行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743200" cy="13716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React + Tailwind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微软雅黑"/>
              </a:defRPr>
            </a:pPr>
            <a:r>
              <a:t>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011680"/>
            <a:ext cx="2743200" cy="1371600"/>
          </a:xfrm>
          <a:prstGeom prst="roundRect">
            <a:avLst/>
          </a:prstGeom>
          <a:solidFill>
            <a:srgbClr val="783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Node.js + 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RESTful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微软雅黑"/>
              </a:defRPr>
            </a:pPr>
            <a:r>
              <a:t>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011680"/>
            <a:ext cx="2743200" cy="13716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SQLite + sql.js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零配置数据库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1828800"/>
            <a:ext cx="1645920" cy="457200"/>
          </a:xfrm>
          <a:prstGeom prst="roundRect">
            <a:avLst/>
          </a:prstGeom>
          <a:solidFill>
            <a:srgbClr val="3B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B5FD"/>
                </a:solidFill>
                <a:latin typeface="微软雅黑"/>
              </a:defRPr>
            </a:pPr>
            <a:r>
              <a:t>DeepSeek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377440"/>
            <a:ext cx="1645920" cy="457200"/>
          </a:xfrm>
          <a:prstGeom prst="roundRect">
            <a:avLst/>
          </a:prstGeom>
          <a:solidFill>
            <a:srgbClr val="3B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B5FD"/>
                </a:solidFill>
                <a:latin typeface="微软雅黑"/>
              </a:defRPr>
            </a:pPr>
            <a:r>
              <a:t>智谱 / 通义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2926080"/>
            <a:ext cx="1645920" cy="457200"/>
          </a:xfrm>
          <a:prstGeom prst="roundRect">
            <a:avLst/>
          </a:prstGeom>
          <a:solidFill>
            <a:srgbClr val="3B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B5FD"/>
                </a:solidFill>
                <a:latin typeface="微软雅黑"/>
              </a:defRPr>
            </a:pPr>
            <a:r>
              <a:t>火山 / MiniMax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3474720"/>
            <a:ext cx="1645920" cy="457200"/>
          </a:xfrm>
          <a:prstGeom prst="roundRect">
            <a:avLst/>
          </a:prstGeom>
          <a:solidFill>
            <a:srgbClr val="3B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520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B5FD"/>
                </a:solidFill>
                <a:latin typeface="微软雅黑"/>
              </a:defRPr>
            </a:pPr>
            <a:r>
              <a:t>Pollinations (免费)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微软雅黑"/>
              </a:defRPr>
            </a:pPr>
            <a:r>
              <a:t>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📦 7 个厂商适配器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每个厂商独立适配器</a:t>
            </a:r>
            <a:br/>
            <a:r>
              <a:t>即插即用、互不影响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🧪 自动化测试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15 项端到端测试</a:t>
            </a:r>
            <a:br/>
            <a:r>
              <a:t>路由/流式/计费全覆盖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🚀 一键部署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6634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双击 bat 启动全部服务</a:t>
            </a:r>
            <a:br/>
            <a:r>
              <a:t>前后端 + 数据库全自动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7D2FE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让每个团队都能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低成本用上最好的 AI 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47472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本地体验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7D2FE"/>
                </a:solidFill>
                <a:latin typeface="微软雅黑"/>
              </a:defRPr>
            </a:pPr>
            <a:r>
              <a:t>双击 bat 即可运行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开源代码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7D2FE"/>
                </a:solidFill>
                <a:latin typeface="微软雅黑"/>
              </a:defRPr>
            </a:pPr>
            <a:r>
              <a:t>GitHub 可获取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联系我们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7D2FE"/>
                </a:solidFill>
                <a:latin typeface="微软雅黑"/>
              </a:defRPr>
            </a:pPr>
            <a:r>
              <a:t>交流合作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5B4FC"/>
                </a:solidFill>
                <a:latin typeface="微软雅黑"/>
              </a:defRPr>
            </a:pPr>
            <a:r>
              <a:t>TeleToken Router · 企业级 AI 模型聚合网关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